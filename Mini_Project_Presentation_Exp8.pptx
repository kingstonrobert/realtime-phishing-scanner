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7315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980B9"/>
                </a:solidFill>
              </a:defRPr>
            </a:pPr>
            <a:r>
              <a:t>EXPERIMENT NO. 8 | MINI PROJECT PRESENTATION</a:t>
            </a:r>
          </a:p>
          <a:p>
            <a:pPr>
              <a:defRPr sz="2600" b="1">
                <a:solidFill>
                  <a:srgbClr val="2C3E50"/>
                </a:solidFill>
              </a:defRPr>
            </a:pPr>
            <a:r>
              <a:t>Real-Time Phishing URL &amp; Malicious Domain Scanner</a:t>
            </a:r>
          </a:p>
          <a:p>
            <a:pPr>
              <a:defRPr sz="1400">
                <a:solidFill>
                  <a:srgbClr val="7F8C8D"/>
                </a:solidFill>
              </a:defRPr>
            </a:pPr>
            <a:r>
              <a:t>Ultra-Fast Inference (&lt;0.25 ms) Using Pure Lexical Features and ONNX Runtime</a:t>
            </a:r>
          </a:p>
          <a:p>
            <a:br/>
            <a:pPr>
              <a:defRPr sz="1100">
                <a:solidFill>
                  <a:srgbClr val="34495E"/>
                </a:solidFill>
              </a:defRPr>
            </a:pPr>
            <a:r>
              <a:t>Course: Machine Learning (CSL701) | CO Mapping: CSL701.6</a:t>
            </a:r>
            <a:br/>
            <a:r>
              <a:t>GitHub: https://github.com/Kingstonrobert/realtime-phishing-scanner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CSL701: MACHINE LEARNING MINI PROJECT</a:t>
            </a:r>
          </a:p>
          <a:p>
            <a:pPr>
              <a:defRPr sz="2000" b="1">
                <a:solidFill>
                  <a:srgbClr val="2C3E50"/>
                </a:solidFill>
              </a:defRPr>
            </a:pPr>
            <a:r>
              <a:t>Problem Definition &amp; Cyber Defense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2980B9"/>
                </a:solidFill>
              </a:rPr>
              <a:t>• The Zero-Day Threat: </a:t>
            </a:r>
            <a:r>
              <a:rPr sz="1300">
                <a:solidFill>
                  <a:srgbClr val="34495E"/>
                </a:solidFill>
              </a:rPr>
              <a:t>Over 80% of phishing links are ephemeral, lasting less than 12 hours before being abandoned. Static blacklists (e.g. Google Safe Browsing) fail against zero-day URLs.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2980B9"/>
                </a:solidFill>
              </a:rPr>
              <a:t>• The Latency Problem: </a:t>
            </a:r>
            <a:r>
              <a:rPr sz="1300">
                <a:solidFill>
                  <a:srgbClr val="34495E"/>
                </a:solidFill>
              </a:rPr>
              <a:t>Deep web inspection (downloading DOM, rendering JavaScript, screenshot analysis) takes 1,000–3,000 ms, which creates unacceptable delay for inline firewalls and browser proxies.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2980B9"/>
                </a:solidFill>
              </a:rPr>
              <a:t>• Project Objective: </a:t>
            </a:r>
            <a:r>
              <a:rPr sz="1300">
                <a:solidFill>
                  <a:srgbClr val="34495E"/>
                </a:solidFill>
              </a:rPr>
              <a:t>Build a machine learning scanner delivering sub-millisecond (&lt;1ms) inference to detect brand spoofing, typosquats, and DGA domains purely from URL anatomy without network lookups.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CSL701: MACHINE LEARNING MINI PROJECT</a:t>
            </a:r>
          </a:p>
          <a:p>
            <a:pPr>
              <a:defRPr sz="2000" b="1">
                <a:solidFill>
                  <a:srgbClr val="2C3E50"/>
                </a:solidFill>
              </a:defRPr>
            </a:pPr>
            <a:r>
              <a:t>Dataset Overview &amp; Attack Archetypes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300">
                <a:solidFill>
                  <a:srgbClr val="2980B9"/>
                </a:solidFill>
              </a:rPr>
              <a:t>• 12,000 Balanced Samples: </a:t>
            </a:r>
            <a:r>
              <a:rPr sz="1300">
                <a:solidFill>
                  <a:srgbClr val="34495E"/>
                </a:solidFill>
              </a:rPr>
              <a:t>50% Legitimate URLs (6,000) vs 50% Phishing URLs (6,000).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2980B9"/>
                </a:solidFill>
              </a:rPr>
              <a:t>• Benign Distribution: </a:t>
            </a:r>
            <a:r>
              <a:rPr sz="1300">
                <a:solidFill>
                  <a:srgbClr val="34495E"/>
                </a:solidFill>
              </a:rPr>
              <a:t>Tranco &amp; Alexa top enterprise domains (Microsoft, Google, GitHub, Wikipedia, Stripe, AWS) with deep authentic paths and query structures.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2980B9"/>
                </a:solidFill>
              </a:rPr>
              <a:t>• 9 Phishing Archetypes: </a:t>
            </a:r>
            <a:r>
              <a:rPr sz="1300">
                <a:solidFill>
                  <a:srgbClr val="34495E"/>
                </a:solidFill>
              </a:rPr>
              <a:t>Raw IP hosts, brand subdomain spoofing, abused TLDs (.tk, .xyz), Punycode/homoglyphs, visual confusables ('rn' -&gt; 'm'), DGA randomness, double slash redirects, @ userinfo, credential paths.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CSL701: MACHINE LEARNING MINI PROJECT</a:t>
            </a:r>
          </a:p>
          <a:p>
            <a:pPr>
              <a:defRPr sz="2000" b="1">
                <a:solidFill>
                  <a:srgbClr val="2C3E50"/>
                </a:solidFill>
              </a:defRPr>
            </a:pPr>
            <a:r>
              <a:t>Feature Engineering (&lt;0.08 ms Extraction)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50">
                <a:solidFill>
                  <a:srgbClr val="2980B9"/>
                </a:solidFill>
              </a:rPr>
              <a:t>• Structural &amp; Length Signals: </a:t>
            </a:r>
            <a:r>
              <a:rPr sz="1250">
                <a:solidFill>
                  <a:srgbClr val="34495E"/>
                </a:solidFill>
              </a:rPr>
              <a:t>URL, domain, path, query lengths; counts of dots, hyphens, slashes, underscores, and @ symbols.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2980B9"/>
                </a:solidFill>
              </a:rPr>
              <a:t>• Shannon Information Entropy: </a:t>
            </a:r>
            <a:r>
              <a:rPr sz="1250">
                <a:solidFill>
                  <a:srgbClr val="34495E"/>
                </a:solidFill>
              </a:rPr>
              <a:t>Calculates domain randomness (H = -Σ p log2 p) to identify botnet Domain Generation Algorithms (DGA).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2980B9"/>
                </a:solidFill>
              </a:rPr>
              <a:t>• Visual Confusable &amp; Typosquat Detector: </a:t>
            </a:r>
            <a:r>
              <a:rPr sz="1250">
                <a:solidFill>
                  <a:srgbClr val="34495E"/>
                </a:solidFill>
              </a:rPr>
              <a:t>Maps ASCII confusable combinations ('rn'-&gt;'m', 'vv'-&gt;'w', '0'-&gt;'o', '1'-&gt;'l') and runs sequence matching against protected brand repositories.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2980B9"/>
                </a:solidFill>
              </a:rPr>
              <a:t>• Weighted Lexicon Analysis: </a:t>
            </a:r>
            <a:r>
              <a:rPr sz="1250">
                <a:solidFill>
                  <a:srgbClr val="34495E"/>
                </a:solidFill>
              </a:rPr>
              <a:t>Evaluates 27 high-risk credential harvesting tokens (login, verify, banking, paypal, wallet).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CSL701: MACHINE LEARNING MINI PROJECT</a:t>
            </a:r>
          </a:p>
          <a:p>
            <a:pPr>
              <a:defRPr sz="2000" b="1">
                <a:solidFill>
                  <a:srgbClr val="2C3E50"/>
                </a:solidFill>
              </a:defRPr>
            </a:pPr>
            <a:r>
              <a:t>Model Architecture: LightGBM + ONNX Runtime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50">
                <a:solidFill>
                  <a:srgbClr val="2980B9"/>
                </a:solidFill>
              </a:rPr>
              <a:t>• Why LightGBM? </a:t>
            </a:r>
            <a:r>
              <a:rPr sz="1250">
                <a:solidFill>
                  <a:srgbClr val="34495E"/>
                </a:solidFill>
              </a:rPr>
              <a:t>Grows trees leaf-wise (best-first) rather than level-wise, delivering higher accuracy on non-linear tabular security features with fewer split operations.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2980B9"/>
                </a:solidFill>
              </a:rPr>
              <a:t>• Hyperparameters: </a:t>
            </a:r>
            <a:r>
              <a:rPr sz="1250">
                <a:solidFill>
                  <a:srgbClr val="34495E"/>
                </a:solidFill>
              </a:rPr>
              <a:t>180 trees, max depth 7, 35 leaves, learning rate 0.06, GBDT with balanced class weights.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2980B9"/>
                </a:solidFill>
              </a:rPr>
              <a:t>• ONNX Runtime Deployment: </a:t>
            </a:r>
            <a:r>
              <a:rPr sz="1250">
                <a:solidFill>
                  <a:srgbClr val="34495E"/>
                </a:solidFill>
              </a:rPr>
              <a:t>Exported into a compiled ONNX graph (models/phishing_model.onnx) executing in C++ machine code, yielding an unprecedented 0.034 ms evaluation latency per query.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2980B9"/>
                </a:solidFill>
              </a:rPr>
              <a:t>• FPR Minimization: </a:t>
            </a:r>
            <a:r>
              <a:rPr sz="1250">
                <a:solidFill>
                  <a:srgbClr val="34495E"/>
                </a:solidFill>
              </a:rPr>
              <a:t>Calibrated threshold ensures False Positive Rate &lt; 0.08% so normal browsing is never interrupted.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CSL701: MACHINE LEARNING MINI PROJECT</a:t>
            </a:r>
          </a:p>
          <a:p>
            <a:pPr>
              <a:defRPr sz="2000" b="1">
                <a:solidFill>
                  <a:srgbClr val="2C3E50"/>
                </a:solidFill>
              </a:defRPr>
            </a:pPr>
            <a:r>
              <a:t>Model Performance &amp; Benchmark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b="1" sz="1300">
                <a:solidFill>
                  <a:srgbClr val="2980B9"/>
                </a:solidFill>
              </a:rPr>
              <a:t>• Accuracy &amp; ROC-AUC: </a:t>
            </a:r>
            <a:r>
              <a:rPr sz="1300">
                <a:solidFill>
                  <a:srgbClr val="34495E"/>
                </a:solidFill>
              </a:rPr>
              <a:t>99.96% Test Set Accuracy | 1.0000 ROC-AUC | 0.9996 F1-Score.</a:t>
            </a:r>
          </a:p>
          <a:p>
            <a:pPr>
              <a:spcAft>
                <a:spcPts val="1100"/>
              </a:spcAft>
            </a:pPr>
            <a:r>
              <a:rPr b="1" sz="1300">
                <a:solidFill>
                  <a:srgbClr val="2980B9"/>
                </a:solidFill>
              </a:rPr>
              <a:t>• Throughput: </a:t>
            </a:r>
            <a:r>
              <a:rPr sz="1300">
                <a:solidFill>
                  <a:srgbClr val="34495E"/>
                </a:solidFill>
              </a:rPr>
              <a:t>9,255 requests/sec (cold inference on single CPU) | 591,576 requests/sec (cached).</a:t>
            </a:r>
          </a:p>
          <a:p>
            <a:pPr>
              <a:spcAft>
                <a:spcPts val="1100"/>
              </a:spcAft>
            </a:pPr>
            <a:r>
              <a:rPr b="1" sz="1300">
                <a:solidFill>
                  <a:srgbClr val="2980B9"/>
                </a:solidFill>
              </a:rPr>
              <a:t>• Strict SLA Compliance: </a:t>
            </a:r>
            <a:r>
              <a:rPr sz="1300">
                <a:solidFill>
                  <a:srgbClr val="34495E"/>
                </a:solidFill>
              </a:rPr>
              <a:t>p95 Latency = 0.215 ms (SLA budget is &lt;100 ms -&gt; 99.8% headroom).</a:t>
            </a:r>
          </a:p>
          <a:p>
            <a:pPr>
              <a:spcAft>
                <a:spcPts val="1100"/>
              </a:spcAft>
            </a:pPr>
            <a:r>
              <a:rPr b="1" sz="1300">
                <a:solidFill>
                  <a:srgbClr val="2980B9"/>
                </a:solidFill>
              </a:rPr>
              <a:t>• Dual Model Verification: </a:t>
            </a:r>
            <a:r>
              <a:rPr sz="1300">
                <a:solidFill>
                  <a:srgbClr val="34495E"/>
                </a:solidFill>
              </a:rPr>
              <a:t>Outperformed Logistic Regression baseline across complex multi-token evasion patterns.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CSL701: MACHINE LEARNING MINI PROJECT</a:t>
            </a:r>
          </a:p>
          <a:p>
            <a:pPr>
              <a:defRPr sz="2000" b="1">
                <a:solidFill>
                  <a:srgbClr val="2C3E50"/>
                </a:solidFill>
              </a:defRPr>
            </a:pPr>
            <a:r>
              <a:t>Case Study: Visual Confusable 'rnicrosoft.com'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50">
                <a:solidFill>
                  <a:srgbClr val="2980B9"/>
                </a:solidFill>
              </a:rPr>
              <a:t>• The Challenge: </a:t>
            </a:r>
            <a:r>
              <a:rPr sz="1250">
                <a:solidFill>
                  <a:srgbClr val="34495E"/>
                </a:solidFill>
              </a:rPr>
              <a:t>'rn' placed together in standard typography (Arial/Helvetica) appears identical to 'm'. Because 'r' and 'n' are standard ASCII characters, standard Unicode homoglyph checks fail.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2980B9"/>
                </a:solidFill>
              </a:rPr>
              <a:t>• Our Solution: </a:t>
            </a:r>
            <a:r>
              <a:rPr sz="1250">
                <a:solidFill>
                  <a:srgbClr val="34495E"/>
                </a:solidFill>
              </a:rPr>
              <a:t>Visual sequence normalization replaces ('rn' -&gt; 'm') to resolve 'microsoft', triggering brand impersonation alerts.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2980B9"/>
                </a:solidFill>
              </a:rPr>
              <a:t>• Live Output: </a:t>
            </a:r>
            <a:r>
              <a:rPr sz="1250">
                <a:solidFill>
                  <a:srgbClr val="34495E"/>
                </a:solidFill>
              </a:rPr>
              <a:t>URL: http://rnicrosoft.com
Classification: PHISHING (Risk Score: 1.00)
Reason: Visual confusable domain spoofing detected: visually impersonates 'Microsoft' (e.g. 'rn' mimicking 'm')
Latency: 0.27 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CSL701: MACHINE LEARNING MINI PROJECT</a:t>
            </a:r>
          </a:p>
          <a:p>
            <a:pPr>
              <a:defRPr sz="2000" b="1">
                <a:solidFill>
                  <a:srgbClr val="2C3E50"/>
                </a:solidFill>
              </a:defRPr>
            </a:pPr>
            <a:r>
              <a:t>System Architecture &amp; API Endpoints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b="1" sz="1300">
                <a:solidFill>
                  <a:srgbClr val="2980B9"/>
                </a:solidFill>
              </a:rPr>
              <a:t>• POST /scan: </a:t>
            </a:r>
            <a:r>
              <a:rPr sz="1300">
                <a:solidFill>
                  <a:srgbClr val="34495E"/>
                </a:solidFill>
              </a:rPr>
              <a:t>Accepts JSON {'url': '...'}, returns classification, risk score, exact ms, and reasons.</a:t>
            </a:r>
          </a:p>
          <a:p>
            <a:pPr>
              <a:spcAft>
                <a:spcPts val="1100"/>
              </a:spcAft>
            </a:pPr>
            <a:r>
              <a:rPr b="1" sz="1300">
                <a:solidFill>
                  <a:srgbClr val="2980B9"/>
                </a:solidFill>
              </a:rPr>
              <a:t>• POST /batch-scan: </a:t>
            </a:r>
            <a:r>
              <a:rPr sz="1300">
                <a:solidFill>
                  <a:srgbClr val="34495E"/>
                </a:solidFill>
              </a:rPr>
              <a:t>Vectorized bulk scanning for web proxy log pipelines.</a:t>
            </a:r>
          </a:p>
          <a:p>
            <a:pPr>
              <a:spcAft>
                <a:spcPts val="1100"/>
              </a:spcAft>
            </a:pPr>
            <a:r>
              <a:rPr b="1" sz="1300">
                <a:solidFill>
                  <a:srgbClr val="2980B9"/>
                </a:solidFill>
              </a:rPr>
              <a:t>• GET /health: </a:t>
            </a:r>
            <a:r>
              <a:rPr sz="1300">
                <a:solidFill>
                  <a:srgbClr val="34495E"/>
                </a:solidFill>
              </a:rPr>
              <a:t>Real-time diagnostics, memory cache hit ratios, and model backend verification.</a:t>
            </a:r>
          </a:p>
          <a:p>
            <a:pPr>
              <a:spcAft>
                <a:spcPts val="1100"/>
              </a:spcAft>
            </a:pPr>
            <a:r>
              <a:rPr b="1" sz="1300">
                <a:solidFill>
                  <a:srgbClr val="2980B9"/>
                </a:solidFill>
              </a:rPr>
              <a:t>• In-Memory LRU Cache: </a:t>
            </a:r>
            <a:r>
              <a:rPr sz="1300">
                <a:solidFill>
                  <a:srgbClr val="34495E"/>
                </a:solidFill>
              </a:rPr>
              <a:t>Sub-0.002 ms retrieval for repeated hits with 50,000 URL capacity.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980B9"/>
                </a:solidFill>
              </a:defRPr>
            </a:pPr>
            <a:r>
              <a:t>CSL701: MACHINE LEARNING MINI PROJECT</a:t>
            </a:r>
          </a:p>
          <a:p>
            <a:pPr>
              <a:defRPr sz="2000" b="1">
                <a:solidFill>
                  <a:srgbClr val="2C3E50"/>
                </a:solidFill>
              </a:defRPr>
            </a:pPr>
            <a:r>
              <a:t>Conclusion &amp; Project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b="1" sz="1300">
                <a:solidFill>
                  <a:srgbClr val="2980B9"/>
                </a:solidFill>
              </a:rPr>
              <a:t>• Engineering Achievement: </a:t>
            </a:r>
            <a:r>
              <a:rPr sz="1300">
                <a:solidFill>
                  <a:srgbClr val="34495E"/>
                </a:solidFill>
              </a:rPr>
              <a:t>Successfully deployed a zero-network-IO machine learning scanner capable of processing over 9,200 fresh URLs per second.</a:t>
            </a:r>
          </a:p>
          <a:p>
            <a:pPr>
              <a:spcAft>
                <a:spcPts val="1100"/>
              </a:spcAft>
            </a:pPr>
            <a:r>
              <a:rPr b="1" sz="1300">
                <a:solidFill>
                  <a:srgbClr val="2980B9"/>
                </a:solidFill>
              </a:rPr>
              <a:t>• SLA Exceeded: </a:t>
            </a:r>
            <a:r>
              <a:rPr sz="1300">
                <a:solidFill>
                  <a:srgbClr val="34495E"/>
                </a:solidFill>
              </a:rPr>
              <a:t>Achieved 0.215 ms p95 latency against the 100 ms requirement.</a:t>
            </a:r>
          </a:p>
          <a:p>
            <a:pPr>
              <a:spcAft>
                <a:spcPts val="1100"/>
              </a:spcAft>
            </a:pPr>
            <a:r>
              <a:rPr b="1" sz="1300">
                <a:solidFill>
                  <a:srgbClr val="2980B9"/>
                </a:solidFill>
              </a:rPr>
              <a:t>• Explainable AI: </a:t>
            </a:r>
            <a:r>
              <a:rPr sz="1300">
                <a:solidFill>
                  <a:srgbClr val="34495E"/>
                </a:solidFill>
              </a:rPr>
              <a:t>Security analysts receive human-readable risk factors explaining why an ephemeral domain was flagged.</a:t>
            </a:r>
          </a:p>
          <a:p>
            <a:pPr>
              <a:spcAft>
                <a:spcPts val="1100"/>
              </a:spcAft>
            </a:pPr>
            <a:r>
              <a:rPr b="1" sz="1300">
                <a:solidFill>
                  <a:srgbClr val="2980B9"/>
                </a:solidFill>
              </a:rPr>
              <a:t>• Open-Source Codebase: </a:t>
            </a:r>
            <a:r>
              <a:rPr sz="1300">
                <a:solidFill>
                  <a:srgbClr val="34495E"/>
                </a:solidFill>
              </a:rPr>
              <a:t>Entire pipeline, unit tests (22 passed), ONNX model, and API published on GitHub.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F4E79"/>
                </a:solidFill>
              </a:defRPr>
            </a:pPr>
            <a:r>
              <a:t>Thank You!</a:t>
            </a:r>
          </a:p>
          <a:p>
            <a:pPr algn="ctr">
              <a:defRPr sz="1400">
                <a:solidFill>
                  <a:srgbClr val="7F8C8D"/>
                </a:solidFill>
              </a:defRPr>
            </a:pPr>
            <a:r>
              <a:t>Questions &amp; Live Demonstration</a:t>
            </a:r>
            <a:br/>
            <a:br/>
            <a:r>
              <a:t>GitHub: https://github.com/Kingstonrobert/realtime-phishing-scanner</a:t>
            </a:r>
            <a:br/>
            <a:r>
              <a:t>Docs: http://localhost:8000/docs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